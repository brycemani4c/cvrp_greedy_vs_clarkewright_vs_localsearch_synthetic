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898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71941-B03D-7B48-6F52-DC6D3B05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259B98-4791-A256-7519-C541F1C9A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86BA8-44B1-A472-452B-16271CA4B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21C3-5CEC-C8DB-44FE-022875AFA8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596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of Heuristic Algorithms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Capacitated Vehicle Routing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520440"/>
            <a:ext cx="2743200" cy="0"/>
          </a:xfrm>
          <a:prstGeom prst="line">
            <a:avLst/>
          </a:prstGeom>
          <a:noFill/>
          <a:ln w="254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Nearest Neighbor  ·  Clarke-Wright Savings  ·  Local Search (2-opt)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Bryson Bargas   |   Noah Boggess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5778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CSC-2400 Design of Algorithms  ·  Tennessee Technological University  ·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Vehicle Routing Problem?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905695" y="45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CVRP Algorithm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fleet of vehicles must deliver goods to a set of customers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central depot, while respecting capacity and minimizing total travel distance.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2286000" cy="164592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total travel distance across all routes.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210312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26080" y="2103120"/>
            <a:ext cx="2286000" cy="164592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6324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63240" y="26974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vehicle has a fixed maximum capacity.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94960" y="210312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94960" y="2103120"/>
            <a:ext cx="2286000" cy="164592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3212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26974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is visited exactly once.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1097280"/>
            <a:ext cx="33832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0" y="1188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 &amp; Customers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92640" y="3291840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418320" y="37947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869680" y="2103120"/>
            <a:ext cx="164592" cy="164592"/>
          </a:xfrm>
          <a:prstGeom prst="ellipse">
            <a:avLst/>
          </a:prstGeom>
          <a:solidFill>
            <a:srgbClr val="C8A24A"/>
          </a:solidFill>
          <a:ln w="12700">
            <a:solidFill>
              <a:srgbClr val="E0C7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601200" y="1920240"/>
            <a:ext cx="164592" cy="164592"/>
          </a:xfrm>
          <a:prstGeom prst="ellipse">
            <a:avLst/>
          </a:prstGeom>
          <a:solidFill>
            <a:srgbClr val="C8A24A"/>
          </a:solidFill>
          <a:ln w="12700">
            <a:solidFill>
              <a:srgbClr val="E0C7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698480" y="2103120"/>
            <a:ext cx="164592" cy="164592"/>
          </a:xfrm>
          <a:prstGeom prst="ellipse">
            <a:avLst/>
          </a:prstGeom>
          <a:solidFill>
            <a:srgbClr val="C8A24A"/>
          </a:solidFill>
          <a:ln w="12700">
            <a:solidFill>
              <a:srgbClr val="E0C7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247120" y="2834640"/>
            <a:ext cx="164592" cy="164592"/>
          </a:xfrm>
          <a:prstGeom prst="ellipse">
            <a:avLst/>
          </a:prstGeom>
          <a:solidFill>
            <a:srgbClr val="C8A24A"/>
          </a:solidFill>
          <a:ln w="12700">
            <a:solidFill>
              <a:srgbClr val="E0C7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1247120" y="4206240"/>
            <a:ext cx="164592" cy="164592"/>
          </a:xfrm>
          <a:prstGeom prst="ellipse">
            <a:avLst/>
          </a:prstGeom>
          <a:solidFill>
            <a:srgbClr val="C8A24A"/>
          </a:solidFill>
          <a:ln w="12700">
            <a:solidFill>
              <a:srgbClr val="E0C7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789920" y="5120640"/>
            <a:ext cx="164592" cy="164592"/>
          </a:xfrm>
          <a:prstGeom prst="ellipse">
            <a:avLst/>
          </a:prstGeom>
          <a:solidFill>
            <a:srgbClr val="C8A24A"/>
          </a:solidFill>
          <a:ln w="12700">
            <a:solidFill>
              <a:srgbClr val="E0C7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784080" y="5577840"/>
            <a:ext cx="164592" cy="164592"/>
          </a:xfrm>
          <a:prstGeom prst="ellipse">
            <a:avLst/>
          </a:prstGeom>
          <a:solidFill>
            <a:srgbClr val="C8A24A"/>
          </a:solidFill>
          <a:ln w="12700">
            <a:solidFill>
              <a:srgbClr val="E0C7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961120" y="5120640"/>
            <a:ext cx="164592" cy="164592"/>
          </a:xfrm>
          <a:prstGeom prst="ellipse">
            <a:avLst/>
          </a:prstGeom>
          <a:solidFill>
            <a:srgbClr val="C8A24A"/>
          </a:solidFill>
          <a:ln w="12700">
            <a:solidFill>
              <a:srgbClr val="E0C7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686800" y="3931920"/>
            <a:ext cx="164592" cy="164592"/>
          </a:xfrm>
          <a:prstGeom prst="ellipse">
            <a:avLst/>
          </a:prstGeom>
          <a:solidFill>
            <a:srgbClr val="C8A24A"/>
          </a:solidFill>
          <a:ln w="12700">
            <a:solidFill>
              <a:srgbClr val="E0C7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869680" y="3017520"/>
            <a:ext cx="164592" cy="164592"/>
          </a:xfrm>
          <a:prstGeom prst="ellipse">
            <a:avLst/>
          </a:prstGeom>
          <a:solidFill>
            <a:srgbClr val="C8A24A"/>
          </a:solidFill>
          <a:ln w="12700">
            <a:solidFill>
              <a:srgbClr val="E0C7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36873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VRP Difficult?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905695" y="45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CVRP Algorithm Comparison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02920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NP-Hard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is a generalization of the Traveling Salesman Problem.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known polynomial-time exact algorithm exists.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solutions become infeasible as customer count grows.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60720" y="914400"/>
            <a:ext cx="5943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0" y="10515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Space Growth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0" y="146304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 customers, the number of route arrangements grows on the order of n! (factorial).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 million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24414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20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0" y="2441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 x 10^18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27340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50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27340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 x 10^64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heuristics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1371600" cy="0"/>
          </a:xfrm>
          <a:prstGeom prst="line">
            <a:avLst/>
          </a:prstGeom>
          <a:noFill/>
          <a:ln w="254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109728" cy="219456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4160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457200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methods that find good (near-optimal) solutions without guaranteeing the optimum.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89120" y="402336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389120" y="4023360"/>
            <a:ext cx="109728" cy="219456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0" y="4160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63440" y="457200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exactness for runtime — essential at scale.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21040" y="402336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21040" y="4023360"/>
            <a:ext cx="109728" cy="219456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595360" y="4160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95360" y="457200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logistics fleets need answers in seconds, not days.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36873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Implemented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905695" y="45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CVRP Algorithm Comparison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6576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6576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10789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Nearest Neighbor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2468880"/>
            <a:ext cx="914400" cy="0"/>
          </a:xfrm>
          <a:prstGeom prst="line">
            <a:avLst/>
          </a:prstGeom>
          <a:noFill/>
          <a:ln w="254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Constructs each route by repeatedly visiting the closest feasible customer until capacity is reached.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5120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5394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89120" y="914400"/>
            <a:ext cx="36576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89120" y="914400"/>
            <a:ext cx="36576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1005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394960" y="10789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Heuristic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1737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Clarke-Wright Savings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17720" y="2468880"/>
            <a:ext cx="914400" cy="0"/>
          </a:xfrm>
          <a:prstGeom prst="line">
            <a:avLst/>
          </a:prstGeom>
          <a:noFill/>
          <a:ln w="254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17720" y="260604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one route per customer, then merges routes greedily based on the savings each merge produces.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17720" y="5120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5394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 log n)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321040" y="914400"/>
            <a:ext cx="36576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321040" y="914400"/>
            <a:ext cx="36576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503920" y="1005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326880" y="10789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Heuristic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49640" y="1737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 (2-opt)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549640" y="2468880"/>
            <a:ext cx="914400" cy="0"/>
          </a:xfrm>
          <a:prstGeom prst="line">
            <a:avLst/>
          </a:prstGeom>
          <a:noFill/>
          <a:ln w="254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549640" y="260604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an existing solution by reversing route segments whenever the swap produces a shorter total path.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49640" y="5120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49640" y="5394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O(k · n²)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serves as the baseline; Clarke-Wright and Local Search aim to improve on it.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36873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905695" y="45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CVRP Algorithm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prior to running any experiments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1554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solution quality (total distance) compare between Greedy and Clarke-Wright?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77724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63040" y="2560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Local Search significantly improve the Greedy solution?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77724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46304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the algorithms compare in terms of runtime efficiency?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77724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463040" y="4572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trade-offs exist between solution quality and computational cost?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5669280"/>
            <a:ext cx="11247120" cy="868680"/>
          </a:xfrm>
          <a:prstGeom prst="rect">
            <a:avLst/>
          </a:prstGeom>
          <a:solidFill>
            <a:srgbClr val="151A4D"/>
          </a:solidFill>
          <a:ln w="12700">
            <a:solidFill>
              <a:srgbClr val="15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Clarke-Wright will produce shorter routes than Greedy. Local Search will further improve Greedy's solution at the cost of additional runtime.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36873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905695" y="45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CVRP Algorithm Comparison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6576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Solomon Benchmark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C101, C201, R101,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R201, RC101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customers each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100584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89120" y="1005840"/>
            <a:ext cx="36576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17720" y="1051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runs per dataset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1965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algorithm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(75 algorithm runs)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769044" y="374904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769044" y="3749040"/>
            <a:ext cx="36576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997644" y="3794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043364" y="4389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i9-11900H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43364" y="4709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2.50 GHz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043364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GB RAM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043364" y="5349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765357" y="374904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765357" y="3749040"/>
            <a:ext cx="36576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93957" y="3794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39677" y="4389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route distance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39677" y="4709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used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039677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runtime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039677" y="5349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improvement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275320" y="100584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275320" y="1005840"/>
            <a:ext cx="36576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503920" y="1051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4964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Nearest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549640" y="1965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 solution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54964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omitted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54964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(exponential cost)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136873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Total Route Distance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905695" y="45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CVRP Algorithm Comparison</a:t>
            </a:r>
            <a:endParaRPr lang="en-US" sz="1100" dirty="0"/>
          </a:p>
        </p:txBody>
      </p:sp>
      <p:pic>
        <p:nvPicPr>
          <p:cNvPr id="5" name="Image 0" descr="/tmp/pptx_build/distanc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786384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03920" y="914400"/>
            <a:ext cx="32918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503920" y="914400"/>
            <a:ext cx="3291840" cy="45720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41080" y="960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0" y="1554480"/>
            <a:ext cx="73152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869680" y="155448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Clarke-Wright wins on every dataset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0" y="2423160"/>
            <a:ext cx="73152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869680" y="24231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produces the longest routes on every dataset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86800" y="3291840"/>
            <a:ext cx="73152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869680" y="32918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 lands between Greedy and Clarke-Wright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0" y="4297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on each dataset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0" y="4526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Clarke-Wright (5/5)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686800" y="5029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on each dataset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86800" y="5257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NN (5/5)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65760" y="57607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1 - Total Route Distance by Algorithm and Dataset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36873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Distance Improvement over Greedy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905695" y="45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CVRP Algorithm Comparison</a:t>
            </a:r>
            <a:endParaRPr lang="en-US" sz="1100" dirty="0"/>
          </a:p>
        </p:txBody>
      </p:sp>
      <p:pic>
        <p:nvPicPr>
          <p:cNvPr id="5" name="Image 0" descr="/tmp/pptx_build/improvemen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786384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03920" y="914400"/>
            <a:ext cx="32918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503920" y="914400"/>
            <a:ext cx="3291840" cy="45720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41080" y="960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of Improvement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0" y="1554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Clarke-Wright vs Greedy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0" y="1828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+11.99% to +36.45%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C101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0" y="2514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Worst: R201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686800" y="2926080"/>
            <a:ext cx="3017520" cy="0"/>
          </a:xfrm>
          <a:prstGeom prst="line">
            <a:avLst/>
          </a:prstGeom>
          <a:noFill/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86800" y="3108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 vs Greedy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0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+0.39% to +8.55%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686800" y="3840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R201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686800" y="4069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Worst: RC101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686800" y="4572000"/>
            <a:ext cx="30175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778240" y="4663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Clarke-Wright wins 5/5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778240" y="49834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dataset, the savings algorithm beats both other methods on distance.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5760" y="57607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2 - Distance Improvement over Greedy Baseline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36873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Runtime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905695" y="45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CVRP Algorithm Comparison</a:t>
            </a:r>
            <a:endParaRPr lang="en-US" sz="1100" dirty="0"/>
          </a:p>
        </p:txBody>
      </p:sp>
      <p:pic>
        <p:nvPicPr>
          <p:cNvPr id="5" name="Image 0" descr="/tmp/pptx_build/runtim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786384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03920" y="914400"/>
            <a:ext cx="32918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503920" y="914400"/>
            <a:ext cx="3291840" cy="45720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41080" y="960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Runtime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0" y="1508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0" y="1783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0.2 ms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686800" y="2240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across all datasets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86800" y="2606040"/>
            <a:ext cx="3017520" cy="0"/>
          </a:xfrm>
          <a:prstGeom prst="line">
            <a:avLst/>
          </a:prstGeom>
          <a:noFill/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86800" y="2743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Clarke-Wright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0" y="3017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14 - 18 ms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686800" y="3474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dominates runtime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86800" y="3840480"/>
            <a:ext cx="3017520" cy="0"/>
          </a:xfrm>
          <a:prstGeom prst="line">
            <a:avLst/>
          </a:prstGeom>
          <a:noFill/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686800" y="3977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86800" y="4251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0.4 - 11 ms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686800" y="4709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convergence passes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686800" y="5074920"/>
            <a:ext cx="3017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686800" y="5120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scale  ·  5 runs each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5760" y="57607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3 - Average Runtime by Algorithm and Dataset (5 runs, error bars = std dev)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36873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905695" y="45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CVRP Algorithm Comparison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47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200400" cy="1600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where Clarke-Wright produced the shortest routes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1097280"/>
            <a:ext cx="7680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savings-based merging strategy is the most consistent winner — it does not lose to either competitor on any of the five Solomon instances.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1247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3200400" cy="1600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0.2 ms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Greedy runtime, regardless of dataset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2880360"/>
            <a:ext cx="7680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is by far the fastest method. Its weakness is solution quality: it produced the longest routes on every dataset.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11247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3200400" cy="1600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0.4 - 11 ms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48640" y="53949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 runtime range - highly variable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4663440"/>
            <a:ext cx="7680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2-opt's runtime depends on how many improvement passes its starting solution requires. Quality gain ranged from a marginal 0.39% to a meaningful 8.55%.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6873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905695" y="45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CVRP Algorithm Comparison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4864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4864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91440" cy="86868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only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0116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exact / optimal solution was computed for true ground-truth comparison.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91440" cy="86868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743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2-opt local minima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063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 can get stuck in local optima it cannot escape with single edge swaps.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91440" cy="86868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794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savings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4114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Clarke-Wright merges greedily — early merges can block later, better merges.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91440" cy="86868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846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problem size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51663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datasets contain 100 customers; we did not test how each method scales.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914400"/>
            <a:ext cx="5486400" cy="5212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914400"/>
            <a:ext cx="5486400" cy="548640"/>
          </a:xfrm>
          <a:prstGeom prst="rect">
            <a:avLst/>
          </a:prstGeom>
          <a:solidFill>
            <a:srgbClr val="151A4D"/>
          </a:solidFill>
          <a:ln w="12700">
            <a:solidFill>
              <a:srgbClr val="15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0" y="960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0" y="1691640"/>
            <a:ext cx="91440" cy="86868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2940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study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20116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larger problem sizes (n = 200, 500, 1000) to compare empirical growth against theoretical complexity.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2743200"/>
            <a:ext cx="91440" cy="86868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29400" y="2743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exact solver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29400" y="3063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branch-and-bound or MILP solver as a true optimal baseline for small instances.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3794760"/>
            <a:ext cx="91440" cy="86868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29400" y="3794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restarts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29400" y="4114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 Local Search's local minima problem by restarting from many Greedy seeds.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4846320"/>
            <a:ext cx="91440" cy="868680"/>
          </a:xfrm>
          <a:prstGeom prst="rect">
            <a:avLst/>
          </a:prstGeom>
          <a:solidFill>
            <a:srgbClr val="C8A24A"/>
          </a:solidFill>
          <a:ln w="12700">
            <a:solidFill>
              <a:srgbClr val="C8A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29400" y="4846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pipeline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29400" y="51663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2-opt to Clarke-Wright output instead of Greedy output to combine the strengths of both.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36873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B7EBB5-52A8-EC2F-9FAA-18A73C77E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33076C-A29A-785F-B52C-054A01D3F59A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891B2A-5FCF-D475-198E-DA8BAB8BCE17}"/>
              </a:ext>
            </a:extLst>
          </p:cNvPr>
          <p:cNvSpPr/>
          <p:nvPr/>
        </p:nvSpPr>
        <p:spPr>
          <a:xfrm>
            <a:off x="365760" y="4572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F872F74-3750-E328-7C65-429FB96AFCC2}"/>
              </a:ext>
            </a:extLst>
          </p:cNvPr>
          <p:cNvSpPr/>
          <p:nvPr/>
        </p:nvSpPr>
        <p:spPr>
          <a:xfrm>
            <a:off x="9905695" y="45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CVRP Algorithm Comparison</a:t>
            </a:r>
            <a:endParaRPr lang="en-US" sz="11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E1349B21-F955-B5D1-9B93-5CC485EA2921}"/>
              </a:ext>
            </a:extLst>
          </p:cNvPr>
          <p:cNvSpPr/>
          <p:nvPr/>
        </p:nvSpPr>
        <p:spPr>
          <a:xfrm>
            <a:off x="1136873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765C1D-B673-D266-16BD-898C3879146F}"/>
              </a:ext>
            </a:extLst>
          </p:cNvPr>
          <p:cNvSpPr txBox="1"/>
          <p:nvPr/>
        </p:nvSpPr>
        <p:spPr>
          <a:xfrm>
            <a:off x="5137484" y="2644170"/>
            <a:ext cx="16122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Double Porter 5" pitchFamily="50" charset="0"/>
              </a:rPr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2085221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981</Words>
  <Application>Microsoft Office PowerPoint</Application>
  <PresentationFormat>Widescreen</PresentationFormat>
  <Paragraphs>194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Double Porter 5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CVRP Algorithm Comparison</dc:title>
  <dc:subject>PptxGenJS Presentation</dc:subject>
  <dc:creator>Bryson Bargas, Noah Boggess</dc:creator>
  <cp:lastModifiedBy>Bargas, Bryson (babargas42)</cp:lastModifiedBy>
  <cp:revision>2</cp:revision>
  <dcterms:created xsi:type="dcterms:W3CDTF">2026-04-27T07:52:23Z</dcterms:created>
  <dcterms:modified xsi:type="dcterms:W3CDTF">2026-04-27T08:04:14Z</dcterms:modified>
</cp:coreProperties>
</file>